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94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Regressão Logística</c:v>
                </c:pt>
              </c:strCache>
            </c:strRef>
          </c:tx>
          <c:invertIfNegative val="1"/>
          <c:cat>
            <c:strRef>
              <c:f>Sheet1!$A$2:$A$7</c:f>
              <c:strCache>
                <c:ptCount val="6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</c:v>
                </c:pt>
                <c:pt idx="4">
                  <c:v>ROC AUC</c:v>
                </c:pt>
                <c:pt idx="5">
                  <c:v>Avg. Precision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0.66600000000000004</c:v>
                </c:pt>
                <c:pt idx="1">
                  <c:v>0.63</c:v>
                </c:pt>
                <c:pt idx="2">
                  <c:v>0.874</c:v>
                </c:pt>
                <c:pt idx="3">
                  <c:v>0.73199999999999998</c:v>
                </c:pt>
                <c:pt idx="4">
                  <c:v>0.71199999999999997</c:v>
                </c:pt>
                <c:pt idx="5">
                  <c:v>0.68600000000000005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03-45AE-970A-494B995CAD4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Forest</c:v>
                </c:pt>
              </c:strCache>
            </c:strRef>
          </c:tx>
          <c:invertIfNegative val="1"/>
          <c:cat>
            <c:strRef>
              <c:f>Sheet1!$A$2:$A$7</c:f>
              <c:strCache>
                <c:ptCount val="6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</c:v>
                </c:pt>
                <c:pt idx="4">
                  <c:v>ROC AUC</c:v>
                </c:pt>
                <c:pt idx="5">
                  <c:v>Avg. Precision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0.66700000000000004</c:v>
                </c:pt>
                <c:pt idx="1">
                  <c:v>0.63400000000000001</c:v>
                </c:pt>
                <c:pt idx="2">
                  <c:v>0.85899999999999999</c:v>
                </c:pt>
                <c:pt idx="3">
                  <c:v>0.72899999999999998</c:v>
                </c:pt>
                <c:pt idx="4">
                  <c:v>0.71299999999999997</c:v>
                </c:pt>
                <c:pt idx="5">
                  <c:v>0.68799999999999994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303-45AE-970A-494B995CAD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"/>
          <c:min val="0"/>
        </c:scaling>
        <c:delete val="0"/>
        <c:axPos val="l"/>
        <c:majorGridlines/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pt-BR"/>
          </a:p>
        </c:txPr>
        <c:crossAx val="-2068027336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3.3975223583163218E-2"/>
          <c:y val="1.9805564668999708E-2"/>
          <c:w val="0.67741992320404398"/>
          <c:h val="8.0310176071741027E-2"/>
        </c:manualLayout>
      </c:layout>
      <c:overlay val="1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Alfabetização no Brasil</a:t>
            </a:r>
          </a:p>
          <a:p>
            <a:pPr>
              <a:defRPr sz="2200">
                <a:solidFill>
                  <a:srgbClr val="BED7E6"/>
                </a:solidFill>
              </a:defRPr>
            </a:pPr>
            <a:r>
              <a:t>Dados públicos para antecipar riscos e orientar políticas educacionais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3035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Tech Challenge • Fase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2B4A"/>
                </a:solidFill>
              </a:defRPr>
            </a:pPr>
            <a:r>
              <a:t>1. O problema educacional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46E"/>
                </a:solidFill>
              </a:defRPr>
            </a:pPr>
            <a:r>
              <a:t>Da fotografia do resultado à capacidade de agir antes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5A646E"/>
                </a:solidFill>
              </a:defRPr>
            </a:pPr>
            <a:r>
              <a:t>Alfabetização é um resultado crítico para a trajetória escolar e para a equidade educacional.</a:t>
            </a:r>
          </a:p>
          <a:p>
            <a:pPr>
              <a:spcAft>
                <a:spcPts val="1400"/>
              </a:spcAft>
              <a:defRPr sz="2000">
                <a:solidFill>
                  <a:srgbClr val="5A646E"/>
                </a:solidFill>
              </a:defRPr>
            </a:pPr>
            <a:r>
              <a:t>Gestores precisam identificar onde estão os maiores riscos e priorizar recursos limitados.</a:t>
            </a:r>
          </a:p>
          <a:p>
            <a:pPr>
              <a:spcAft>
                <a:spcPts val="1400"/>
              </a:spcAft>
              <a:defRPr sz="2000">
                <a:solidFill>
                  <a:srgbClr val="5A646E"/>
                </a:solidFill>
              </a:defRPr>
            </a:pPr>
            <a:r>
              <a:t>Uma análise exclusivamente descritiva mostra o que aconteceu; uma abordagem preditiva ajuda a antecipar onde agir.</a:t>
            </a:r>
          </a:p>
          <a:p>
            <a:pPr>
              <a:spcAft>
                <a:spcPts val="1400"/>
              </a:spcAft>
              <a:defRPr sz="2000">
                <a:solidFill>
                  <a:srgbClr val="5A646E"/>
                </a:solidFill>
              </a:defRPr>
            </a:pPr>
            <a:r>
              <a:t>Objetivo: estimar a probabilidade de alfabetização e transformar o resultado em inteligência para decisão.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2B4A"/>
                </a:solidFill>
              </a:defRPr>
            </a:pPr>
            <a:r>
              <a:t>2. A base analisada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46E"/>
                </a:solidFill>
              </a:defRPr>
            </a:pPr>
            <a:r>
              <a:t>Cobertura ampla, com separação temporal para simular uso futuro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63040"/>
            <a:ext cx="2286000" cy="1143000"/>
          </a:xfrm>
          <a:prstGeom prst="roundRect">
            <a:avLst/>
          </a:prstGeom>
          <a:solidFill>
            <a:srgbClr val="F2F6F9"/>
          </a:solidFill>
          <a:ln>
            <a:solidFill>
              <a:srgbClr val="246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246FB0"/>
                </a:solidFill>
              </a:defRPr>
            </a:pPr>
            <a:r>
              <a:t>1.048.575</a:t>
            </a:r>
          </a:p>
          <a:p>
            <a:pPr algn="ctr">
              <a:defRPr sz="1100">
                <a:solidFill>
                  <a:srgbClr val="5A646E"/>
                </a:solidFill>
              </a:defRPr>
            </a:pPr>
            <a:r>
              <a:t>registros de alunos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1463040"/>
            <a:ext cx="2286000" cy="1143000"/>
          </a:xfrm>
          <a:prstGeom prst="roundRect">
            <a:avLst/>
          </a:prstGeom>
          <a:solidFill>
            <a:srgbClr val="F2F6F9"/>
          </a:solidFill>
          <a:ln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009196"/>
                </a:solidFill>
              </a:defRPr>
            </a:pPr>
            <a:r>
              <a:t>64</a:t>
            </a:r>
          </a:p>
          <a:p>
            <a:pPr algn="ctr">
              <a:defRPr sz="1100">
                <a:solidFill>
                  <a:srgbClr val="5A646E"/>
                </a:solidFill>
              </a:defRPr>
            </a:pPr>
            <a:r>
              <a:t>colunas originais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63040"/>
            <a:ext cx="2286000" cy="1143000"/>
          </a:xfrm>
          <a:prstGeom prst="roundRect">
            <a:avLst/>
          </a:prstGeom>
          <a:solidFill>
            <a:srgbClr val="F2F6F9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E67E22"/>
                </a:solidFill>
              </a:defRPr>
            </a:pPr>
            <a:r>
              <a:t>2023 → 2024</a:t>
            </a:r>
          </a:p>
          <a:p>
            <a:pPr algn="ctr">
              <a:defRPr sz="1100">
                <a:solidFill>
                  <a:srgbClr val="5A646E"/>
                </a:solidFill>
              </a:defRPr>
            </a:pPr>
            <a:r>
              <a:t>treino e teste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1463040"/>
            <a:ext cx="2286000" cy="1143000"/>
          </a:xfrm>
          <a:prstGeom prst="roundRect">
            <a:avLst/>
          </a:prstGeom>
          <a:solidFill>
            <a:srgbClr val="F2F6F9"/>
          </a:solidFill>
          <a:ln>
            <a:solidFill>
              <a:srgbClr val="246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246FB0"/>
                </a:solidFill>
              </a:defRPr>
            </a:pPr>
            <a:r>
              <a:t>0</a:t>
            </a:r>
          </a:p>
          <a:p>
            <a:pPr algn="ctr">
              <a:defRPr sz="1100">
                <a:solidFill>
                  <a:srgbClr val="5A646E"/>
                </a:solidFill>
              </a:defRPr>
            </a:pPr>
            <a:r>
              <a:t>duplicidades ano + aluno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5A646E"/>
                </a:solidFill>
              </a:defRPr>
            </a:pPr>
            <a:r>
              <a:t>2023: 473.136 registros | 2024: 575.439 registros.</a:t>
            </a:r>
          </a:p>
          <a:p>
            <a:pPr>
              <a:spcAft>
                <a:spcPts val="1400"/>
              </a:spcAft>
              <a:defRPr sz="1700">
                <a:solidFill>
                  <a:srgbClr val="5A646E"/>
                </a:solidFill>
              </a:defRPr>
            </a:pPr>
            <a:r>
              <a:t>Alvo: alfabetizado — 538.755 positivos e 509.820 negativos.</a:t>
            </a:r>
          </a:p>
          <a:p>
            <a:pPr>
              <a:spcAft>
                <a:spcPts val="1400"/>
              </a:spcAft>
              <a:defRPr sz="1700">
                <a:solidFill>
                  <a:srgbClr val="5A646E"/>
                </a:solidFill>
              </a:defRPr>
            </a:pPr>
            <a:r>
              <a:t>Tratamento de tipos, auditoria de duplicidades e validação do alvo.</a:t>
            </a:r>
          </a:p>
          <a:p>
            <a:pPr>
              <a:spcAft>
                <a:spcPts val="1400"/>
              </a:spcAft>
              <a:defRPr sz="1700">
                <a:solidFill>
                  <a:srgbClr val="5A646E"/>
                </a:solidFill>
              </a:defRPr>
            </a:pPr>
            <a:r>
              <a:t>Divisão temporal: o modelo aprende com 2023 e é avaliado em 2024, evitando mistura entre passado e futuro.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2B4A"/>
                </a:solidFill>
              </a:defRPr>
            </a:pPr>
            <a:r>
              <a:t>3. Estratégia de modelagem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46E"/>
                </a:solidFill>
              </a:defRPr>
            </a:pPr>
            <a:r>
              <a:t>Prever sem usar informações que revelam o resultado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5A646E"/>
                </a:solidFill>
              </a:defRPr>
            </a:pPr>
            <a:r>
              <a:t>Features utilizadas: UF, série, rede, presença e preenchimento do caderno.</a:t>
            </a:r>
          </a:p>
          <a:p>
            <a:pPr>
              <a:spcAft>
                <a:spcPts val="1400"/>
              </a:spcAft>
              <a:defRPr sz="1800">
                <a:solidFill>
                  <a:srgbClr val="5A646E"/>
                </a:solidFill>
              </a:defRPr>
            </a:pPr>
            <a:r>
              <a:t>IDs são mantidos para auditoria e ranking, mas não entram no modelo.</a:t>
            </a:r>
          </a:p>
          <a:p>
            <a:pPr>
              <a:spcAft>
                <a:spcPts val="1400"/>
              </a:spcAft>
              <a:defRPr sz="1800">
                <a:solidFill>
                  <a:srgbClr val="5A646E"/>
                </a:solidFill>
              </a:defRPr>
            </a:pPr>
            <a:r>
              <a:t>Proficiência, médias, taxas, níveis de desempenho, pesos e metas foram excluídos para evitar leakage.</a:t>
            </a:r>
          </a:p>
          <a:p>
            <a:pPr>
              <a:spcAft>
                <a:spcPts val="1400"/>
              </a:spcAft>
              <a:defRPr sz="1800">
                <a:solidFill>
                  <a:srgbClr val="5A646E"/>
                </a:solidFill>
              </a:defRPr>
            </a:pPr>
            <a:r>
              <a:t>Pré-processamento dentro de Pipeline/ColumnTransformer: imputação, padronização e OneHotEncoder.</a:t>
            </a:r>
          </a:p>
          <a:p>
            <a:pPr>
              <a:spcAft>
                <a:spcPts val="1400"/>
              </a:spcAft>
              <a:defRPr sz="1800">
                <a:solidFill>
                  <a:srgbClr val="5A646E"/>
                </a:solidFill>
              </a:defRPr>
            </a:pPr>
            <a:r>
              <a:t>Modelos comparados: Regressão Logística e Random Forest.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2B4A"/>
                </a:solidFill>
              </a:defRPr>
            </a:pPr>
            <a:r>
              <a:t>4. Resultado dos modelos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46E"/>
                </a:solidFill>
              </a:defRPr>
            </a:pPr>
            <a:r>
              <a:t>Desempenho consistente, com vantagem marginal da Random Forest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168691"/>
              </p:ext>
            </p:extLst>
          </p:nvPr>
        </p:nvGraphicFramePr>
        <p:xfrm>
          <a:off x="640080" y="1325880"/>
          <a:ext cx="658368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589520" y="1554480"/>
            <a:ext cx="4023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5A646E"/>
                </a:solidFill>
              </a:defRPr>
            </a:pPr>
            <a:r>
              <a:t>Random Forest apresenta o melhor ROC AUC (0,713) e Average Precision (0,688).</a:t>
            </a:r>
          </a:p>
          <a:p>
            <a:pPr>
              <a:spcAft>
                <a:spcPts val="1400"/>
              </a:spcAft>
              <a:defRPr sz="1600">
                <a:solidFill>
                  <a:srgbClr val="5A646E"/>
                </a:solidFill>
              </a:defRPr>
            </a:pPr>
            <a:r>
              <a:t>Regressão Logística alcança maior recall (0,874), útil quando o custo de não identificar um aluno em risco é alto.</a:t>
            </a:r>
          </a:p>
          <a:p>
            <a:pPr>
              <a:spcAft>
                <a:spcPts val="1400"/>
              </a:spcAft>
              <a:defRPr sz="1600">
                <a:solidFill>
                  <a:srgbClr val="5A646E"/>
                </a:solidFill>
              </a:defRPr>
            </a:pPr>
            <a:r>
              <a:t>Resultado indica capacidade discriminativa moderada: o modelo apoia priorização, não substitui avaliação pedagógica.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2B4A"/>
                </a:solidFill>
              </a:defRPr>
            </a:pPr>
            <a:r>
              <a:t>5. O que os resultados significam para a gestão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46E"/>
                </a:solidFill>
              </a:defRPr>
            </a:pPr>
            <a:r>
              <a:t>O modelo deve ser usado como instrumento de priorização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5A646E"/>
                </a:solidFill>
              </a:defRPr>
            </a:pPr>
            <a:r>
              <a:t>Em 2024, a Regressão Logística identificou 262.876 alunos alfabetizados corretamente e 37.955 casos alfabetizados classificados como não alfabetizados.</a:t>
            </a:r>
          </a:p>
          <a:p>
            <a:pPr>
              <a:spcAft>
                <a:spcPts val="1400"/>
              </a:spcAft>
              <a:defRPr sz="1800">
                <a:solidFill>
                  <a:srgbClr val="5A646E"/>
                </a:solidFill>
              </a:defRPr>
            </a:pPr>
            <a:r>
              <a:t>Também houve 154.434 falsos positivos: alunos classificados como alfabetizados que não eram.</a:t>
            </a:r>
          </a:p>
          <a:p>
            <a:pPr>
              <a:spcAft>
                <a:spcPts val="1400"/>
              </a:spcAft>
              <a:defRPr sz="1800">
                <a:solidFill>
                  <a:srgbClr val="5A646E"/>
                </a:solidFill>
              </a:defRPr>
            </a:pPr>
            <a:r>
              <a:t>Isso reforça a necessidade de calibrar o limiar conforme a política: busca ativa, reforço, acompanhamento ou alocação de apoio.</a:t>
            </a:r>
          </a:p>
          <a:p>
            <a:pPr>
              <a:spcAft>
                <a:spcPts val="1400"/>
              </a:spcAft>
              <a:defRPr sz="1800">
                <a:solidFill>
                  <a:srgbClr val="5A646E"/>
                </a:solidFill>
              </a:defRPr>
            </a:pPr>
            <a:r>
              <a:t>Antes de uma implantação, é necessário avaliar equidade por UF, rede, série e outros recortes relevantes.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2B4A"/>
                </a:solidFill>
              </a:defRPr>
            </a:pPr>
            <a:r>
              <a:t>6. Valor estratégico da solução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46E"/>
                </a:solidFill>
              </a:defRPr>
            </a:pPr>
            <a:r>
              <a:t>De dados públicos para uma agenda de intervenção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5A646E"/>
                </a:solidFill>
              </a:defRPr>
            </a:pPr>
            <a:r>
              <a:t>Priorizar municípios, escolas ou grupos com maior probabilidade de não alfabetização.</a:t>
            </a:r>
          </a:p>
          <a:p>
            <a:pPr>
              <a:spcAft>
                <a:spcPts val="1400"/>
              </a:spcAft>
              <a:defRPr sz="1900">
                <a:solidFill>
                  <a:srgbClr val="5A646E"/>
                </a:solidFill>
              </a:defRPr>
            </a:pPr>
            <a:r>
              <a:t>Direcionar formação docente, materiais, reforço e acompanhamento para onde o risco é maior.</a:t>
            </a:r>
          </a:p>
          <a:p>
            <a:pPr>
              <a:spcAft>
                <a:spcPts val="1400"/>
              </a:spcAft>
              <a:defRPr sz="1900">
                <a:solidFill>
                  <a:srgbClr val="5A646E"/>
                </a:solidFill>
              </a:defRPr>
            </a:pPr>
            <a:r>
              <a:t>Monitorar a evolução das ações e comparar resultados entre ciclos.</a:t>
            </a:r>
          </a:p>
          <a:p>
            <a:pPr>
              <a:spcAft>
                <a:spcPts val="1400"/>
              </a:spcAft>
              <a:defRPr sz="1900">
                <a:solidFill>
                  <a:srgbClr val="5A646E"/>
                </a:solidFill>
              </a:defRPr>
            </a:pPr>
            <a:r>
              <a:t>Reduzir decisões baseadas apenas em médias agregadas, trazendo foco para a heterogeneidade territorial.</a:t>
            </a:r>
          </a:p>
          <a:p>
            <a:pPr>
              <a:spcAft>
                <a:spcPts val="1400"/>
              </a:spcAft>
              <a:defRPr sz="1900">
                <a:solidFill>
                  <a:srgbClr val="5A646E"/>
                </a:solidFill>
              </a:defRPr>
            </a:pPr>
            <a:r>
              <a:t>Construir uma rotina de gestão: diagnóstico → priorização → intervenção → monitoramento.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2B4A"/>
                </a:solidFill>
              </a:defRPr>
            </a:pPr>
            <a:r>
              <a:t>7. Como apoiar políticas públicas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46E"/>
                </a:solidFill>
              </a:defRPr>
            </a:pPr>
            <a:r>
              <a:t>Aplicação recomendada em três horizontes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926080" cy="3017520"/>
          </a:xfrm>
          <a:prstGeom prst="roundRect">
            <a:avLst/>
          </a:prstGeom>
          <a:solidFill>
            <a:srgbClr val="F2F6F9"/>
          </a:solidFill>
          <a:ln>
            <a:solidFill>
              <a:srgbClr val="246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246FB0"/>
                </a:solidFill>
              </a:defRPr>
            </a:pPr>
            <a:r>
              <a:t>Curto prazo</a:t>
            </a:r>
          </a:p>
          <a:p>
            <a:pPr algn="ctr">
              <a:defRPr sz="1700">
                <a:solidFill>
                  <a:srgbClr val="5A646E"/>
                </a:solidFill>
              </a:defRPr>
            </a:pPr>
            <a:r>
              <a:t>Painel de risco e ranking para apoiar busca ativa e acompanhamento.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60520" y="1554480"/>
            <a:ext cx="2926080" cy="3017520"/>
          </a:xfrm>
          <a:prstGeom prst="roundRect">
            <a:avLst/>
          </a:prstGeom>
          <a:solidFill>
            <a:srgbClr val="F2F6F9"/>
          </a:solidFill>
          <a:ln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09196"/>
                </a:solidFill>
              </a:defRPr>
            </a:pPr>
            <a:r>
              <a:t>Médio prazo</a:t>
            </a:r>
          </a:p>
          <a:p>
            <a:pPr algn="ctr">
              <a:defRPr sz="1700">
                <a:solidFill>
                  <a:srgbClr val="5A646E"/>
                </a:solidFill>
              </a:defRPr>
            </a:pPr>
            <a:r>
              <a:t>Avaliação de intervenções, segmentação territorial e monitoramento de metas.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1554480"/>
            <a:ext cx="2926080" cy="3017520"/>
          </a:xfrm>
          <a:prstGeom prst="roundRect">
            <a:avLst/>
          </a:prstGeom>
          <a:solidFill>
            <a:srgbClr val="F2F6F9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E67E22"/>
                </a:solidFill>
              </a:defRPr>
            </a:pPr>
            <a:r>
              <a:t>Longo prazo</a:t>
            </a:r>
          </a:p>
          <a:p>
            <a:pPr algn="ctr">
              <a:defRPr sz="1700">
                <a:solidFill>
                  <a:srgbClr val="5A646E"/>
                </a:solidFill>
              </a:defRPr>
            </a:pPr>
            <a:r>
              <a:t>Modelos recalibrados, novas variáveis e integração ao ciclo de planejamento.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120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5A646E"/>
                </a:solidFill>
              </a:defRPr>
            </a:pPr>
            <a:r>
              <a:t>Governança: transparência, proteção de dados, explicabilidade e validação com especialistas da educação.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2B4A"/>
                </a:solidFill>
              </a:defRPr>
            </a:pPr>
            <a:r>
              <a:t>8. Recomendação executiva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46E"/>
                </a:solidFill>
              </a:defRPr>
            </a:pPr>
            <a:r>
              <a:t>Começar pequeno, medir impacto e escalar com responsabilidade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5A646E"/>
                </a:solidFill>
              </a:defRPr>
            </a:pPr>
            <a:r>
              <a:t>Pilotar o score em territórios selecionados, com participação das equipes pedagógicas.</a:t>
            </a:r>
          </a:p>
          <a:p>
            <a:pPr>
              <a:spcAft>
                <a:spcPts val="1400"/>
              </a:spcAft>
              <a:defRPr sz="2200">
                <a:solidFill>
                  <a:srgbClr val="5A646E"/>
                </a:solidFill>
              </a:defRPr>
            </a:pPr>
            <a:r>
              <a:t>Definir previamente o objetivo operacional e o custo dos falsos positivos e negativos.</a:t>
            </a:r>
          </a:p>
          <a:p>
            <a:pPr>
              <a:spcAft>
                <a:spcPts val="1400"/>
              </a:spcAft>
              <a:defRPr sz="2200">
                <a:solidFill>
                  <a:srgbClr val="5A646E"/>
                </a:solidFill>
              </a:defRPr>
            </a:pPr>
            <a:r>
              <a:t>Usar o modelo para apoiar — nunca automatizar sozinho — decisões que afetam alunos.</a:t>
            </a:r>
          </a:p>
          <a:p>
            <a:pPr>
              <a:spcAft>
                <a:spcPts val="1400"/>
              </a:spcAft>
              <a:defRPr sz="2200">
                <a:solidFill>
                  <a:srgbClr val="5A646E"/>
                </a:solidFill>
              </a:defRPr>
            </a:pPr>
            <a:r>
              <a:t>Medir impacto real: presença, evolução da aprendizagem, redução de desigualdades e alcance das intervenções.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6692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BED7E6"/>
                </a:solidFill>
              </a:defRPr>
            </a:pPr>
            <a:r>
              <a:t>Mensagem final: antecipar o risco é ampliar a capacidade de garantir o direito de aprender.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667</Words>
  <Application>Microsoft Office PowerPoint</Application>
  <PresentationFormat>Ecrã Panorâmico</PresentationFormat>
  <Paragraphs>64</Paragraphs>
  <Slides>9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Luiz Genuino</cp:lastModifiedBy>
  <cp:revision>2</cp:revision>
  <dcterms:created xsi:type="dcterms:W3CDTF">2013-01-27T09:14:16Z</dcterms:created>
  <dcterms:modified xsi:type="dcterms:W3CDTF">2026-09-14T22:26:56Z</dcterms:modified>
  <cp:category/>
</cp:coreProperties>
</file>